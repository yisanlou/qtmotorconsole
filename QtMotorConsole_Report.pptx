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1999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22" name="Box"/>
          <p:cNvSpPr/>
          <p:nvPr/>
        </p:nvSpPr>
        <p:spPr>
          <a:xfrm>
            <a:off x="0" y="0"/>
            <a:ext cx="12191999" cy="16459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3600" b="1">
                <a:solidFill>
                  <a:srgbClr val="183153"/>
                </a:solidFill>
                <a:latin typeface="Microsoft YaHei"/>
                <a:ea typeface="Microsoft YaHei"/>
              </a:rPr>
              <a:t>QtMotorConsole 电机控制上位机项目汇报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77240" y="18288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0">
                <a:solidFill>
                  <a:srgbClr val="607080"/>
                </a:solidFill>
                <a:latin typeface="Microsoft YaHei"/>
                <a:ea typeface="Microsoft YaHei"/>
              </a:rPr>
              <a:t>基于 Qt + EtherCAT + MultiCard 的四轴伺服控制、实时采样与 MIT 力反馈系统</a:t>
            </a:r>
          </a:p>
        </p:txBody>
      </p:sp>
      <p:sp>
        <p:nvSpPr>
          <p:cNvPr id="25" name="Box"/>
          <p:cNvSpPr/>
          <p:nvPr/>
        </p:nvSpPr>
        <p:spPr>
          <a:xfrm>
            <a:off x="777240" y="2788920"/>
            <a:ext cx="2286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777240" y="59436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400" b="0">
                <a:solidFill>
                  <a:srgbClr val="607080"/>
                </a:solidFill>
                <a:latin typeface="Microsoft YaHei"/>
                <a:ea typeface="Microsoft YaHei"/>
              </a:rPr>
              <a:t>自动生成于 2026-06-03｜项目：D:\QtMotorConsole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项目定位与核心目标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01</a:t>
            </a:r>
          </a:p>
        </p:txBody>
      </p:sp>
      <p:cxnSp>
        <p:nvCxnSpPr>
          <p:cNvPr id="30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31" name="Text"/>
          <p:cNvSpPr txBox="1"/>
          <p:nvPr/>
        </p:nvSpPr>
        <p:spPr>
          <a:xfrm>
            <a:off x="777240" y="11430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300" b="1">
                <a:solidFill>
                  <a:srgbClr val="183153"/>
                </a:solidFill>
                <a:latin typeface="Microsoft YaHei"/>
                <a:ea typeface="Microsoft YaHei"/>
              </a:rPr>
              <a:t>项目定位</a:t>
            </a:r>
          </a:p>
        </p:txBody>
      </p:sp>
      <p:sp>
        <p:nvSpPr>
          <p:cNvPr id="32" name="Bullets"/>
          <p:cNvSpPr txBox="1"/>
          <p:nvPr/>
        </p:nvSpPr>
        <p:spPr>
          <a:xfrm>
            <a:off x="868680" y="1691640"/>
            <a:ext cx="502920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Windows/Qt 电机控制上位机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面向 EtherCAT 伺服驱动器与运动控制卡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覆盖四轴控制、双光栅尺反馈、实时曲线和数据记录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用于实验调试、参数整定和运行状态观测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446520" y="11430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300" b="1">
                <a:solidFill>
                  <a:srgbClr val="183153"/>
                </a:solidFill>
                <a:latin typeface="Microsoft YaHei"/>
                <a:ea typeface="Microsoft YaHei"/>
              </a:rPr>
              <a:t>汇报主线</a:t>
            </a:r>
          </a:p>
        </p:txBody>
      </p:sp>
      <p:sp>
        <p:nvSpPr>
          <p:cNvPr id="34" name="Box"/>
          <p:cNvSpPr/>
          <p:nvPr/>
        </p:nvSpPr>
        <p:spPr>
          <a:xfrm>
            <a:off x="6446520" y="1691640"/>
            <a:ext cx="4663440" cy="24688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35" name="Bullets"/>
          <p:cNvSpPr txBox="1"/>
          <p:nvPr/>
        </p:nvSpPr>
        <p:spPr>
          <a:xfrm>
            <a:off x="6720840" y="196596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系统架构如何分层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控制与采样如何解耦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力反馈闭环如何实现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可靠性与后续优化方向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系统总体架构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02</a:t>
            </a:r>
          </a:p>
        </p:txBody>
      </p:sp>
      <p:cxnSp>
        <p:nvCxnSpPr>
          <p:cNvPr id="39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40" name="Box"/>
          <p:cNvSpPr/>
          <p:nvPr/>
        </p:nvSpPr>
        <p:spPr>
          <a:xfrm>
            <a:off x="960120" y="1234440"/>
            <a:ext cx="1024128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41" name="Box"/>
          <p:cNvSpPr/>
          <p:nvPr/>
        </p:nvSpPr>
        <p:spPr>
          <a:xfrm>
            <a:off x="960120" y="1234440"/>
            <a:ext cx="109728" cy="960120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42" name="Text"/>
          <p:cNvSpPr txBox="1"/>
          <p:nvPr/>
        </p:nvSpPr>
        <p:spPr>
          <a:xfrm>
            <a:off x="1325880" y="139903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1">
                <a:solidFill>
                  <a:srgbClr val="183153"/>
                </a:solidFill>
                <a:latin typeface="Microsoft YaHei"/>
                <a:ea typeface="Microsoft YaHei"/>
              </a:rPr>
              <a:t>QtMotorConsole 界面层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5623560" y="145389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263238"/>
                </a:solidFill>
                <a:latin typeface="Microsoft YaHei"/>
                <a:ea typeface="Microsoft YaHei"/>
              </a:rPr>
              <a:t>按钮交互 / 曲线显示 / 性能监控</a:t>
            </a:r>
          </a:p>
        </p:txBody>
      </p:sp>
      <p:cxnSp>
        <p:nvCxnSpPr>
          <p:cNvPr id="44" name="Line"/>
          <p:cNvCxnSpPr/>
          <p:nvPr/>
        </p:nvCxnSpPr>
        <p:spPr>
          <a:xfrm>
            <a:off x="6080760" y="2194560"/>
            <a:ext cx="9144" cy="393191"/>
          </a:xfrm>
          <a:prstGeom prst="line">
            <a:avLst/>
          </a:prstGeom>
          <a:ln w="25400">
            <a:solidFill>
              <a:srgbClr val="607080"/>
            </a:solidFill>
            <a:headEnd type="triangle"/>
          </a:ln>
        </p:spPr>
      </p:cxnSp>
      <p:sp>
        <p:nvSpPr>
          <p:cNvPr id="45" name="Box"/>
          <p:cNvSpPr/>
          <p:nvPr/>
        </p:nvSpPr>
        <p:spPr>
          <a:xfrm>
            <a:off x="960120" y="2651760"/>
            <a:ext cx="1024128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46" name="Box"/>
          <p:cNvSpPr/>
          <p:nvPr/>
        </p:nvSpPr>
        <p:spPr>
          <a:xfrm>
            <a:off x="960120" y="2651760"/>
            <a:ext cx="109728" cy="960120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1325880" y="281635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1">
                <a:solidFill>
                  <a:srgbClr val="183153"/>
                </a:solidFill>
                <a:latin typeface="Microsoft YaHei"/>
                <a:ea typeface="Microsoft YaHei"/>
              </a:rPr>
              <a:t>MotorController 控制层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5623560" y="287121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263238"/>
                </a:solidFill>
                <a:latin typeface="Microsoft YaHei"/>
                <a:ea typeface="Microsoft YaHei"/>
              </a:rPr>
              <a:t>开关卡 / 模式切换 / CiA402 / 力反馈</a:t>
            </a:r>
          </a:p>
        </p:txBody>
      </p:sp>
      <p:cxnSp>
        <p:nvCxnSpPr>
          <p:cNvPr id="49" name="Line"/>
          <p:cNvCxnSpPr/>
          <p:nvPr/>
        </p:nvCxnSpPr>
        <p:spPr>
          <a:xfrm>
            <a:off x="6080760" y="3611880"/>
            <a:ext cx="9144" cy="393192"/>
          </a:xfrm>
          <a:prstGeom prst="line">
            <a:avLst/>
          </a:prstGeom>
          <a:ln w="25400">
            <a:solidFill>
              <a:srgbClr val="607080"/>
            </a:solidFill>
            <a:headEnd type="triangle"/>
          </a:ln>
        </p:spPr>
      </p:cxnSp>
      <p:sp>
        <p:nvSpPr>
          <p:cNvPr id="50" name="Box"/>
          <p:cNvSpPr/>
          <p:nvPr/>
        </p:nvSpPr>
        <p:spPr>
          <a:xfrm>
            <a:off x="960120" y="4069080"/>
            <a:ext cx="1024128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51" name="Box"/>
          <p:cNvSpPr/>
          <p:nvPr/>
        </p:nvSpPr>
        <p:spPr>
          <a:xfrm>
            <a:off x="960120" y="4069080"/>
            <a:ext cx="109728" cy="960120"/>
          </a:xfrm>
          <a:prstGeom prst="roundRect">
            <a:avLst/>
          </a:prstGeom>
          <a:solidFill>
            <a:srgbClr val="D9822B"/>
          </a:solidFill>
          <a:ln w="10000">
            <a:solidFill>
              <a:srgbClr val="D9822B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1325880" y="423367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1">
                <a:solidFill>
                  <a:srgbClr val="183153"/>
                </a:solidFill>
                <a:latin typeface="Microsoft YaHei"/>
                <a:ea typeface="Microsoft YaHei"/>
              </a:rPr>
              <a:t>MultiCard + EtherCAT 设备层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5623560" y="42885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263238"/>
                </a:solidFill>
                <a:latin typeface="Microsoft YaHei"/>
                <a:ea typeface="Microsoft YaHei"/>
              </a:rPr>
              <a:t>板卡 DLL / PDO-SDO / 伺服驱动器 / 光栅尺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607080"/>
                </a:solidFill>
                <a:latin typeface="Microsoft YaHei"/>
                <a:ea typeface="Microsoft YaHei"/>
              </a:rPr>
              <a:t>核心思想：UI 不直接读板卡，后台采样负责取数，控制层封装 EtherCAT 和 CiA402 细节。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主要功能模块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58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59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60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61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控制卡管理</a:t>
            </a:r>
          </a:p>
        </p:txBody>
      </p:sp>
      <p:sp>
        <p:nvSpPr>
          <p:cNvPr id="62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固定 IP 打开控制卡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EtherCAT 初始化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PDO 加载与伺服配置</a:t>
            </a:r>
          </a:p>
        </p:txBody>
      </p:sp>
      <p:sp>
        <p:nvSpPr>
          <p:cNvPr id="63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64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65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运动控制</a:t>
            </a:r>
          </a:p>
        </p:txBody>
      </p:sp>
      <p:sp>
        <p:nvSpPr>
          <p:cNvPr id="66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CSP 位置模式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CSV 速度模式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CST 力矩模式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安全失能</a:t>
            </a:r>
          </a:p>
        </p:txBody>
      </p:sp>
      <p:sp>
        <p:nvSpPr>
          <p:cNvPr id="67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68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8E44AD"/>
          </a:solidFill>
          <a:ln w="10000">
            <a:solidFill>
              <a:srgbClr val="8E44AD"/>
            </a:solidFill>
          </a:ln>
        </p:spPr>
      </p:sp>
      <p:sp>
        <p:nvSpPr>
          <p:cNvPr id="69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实时监控</a:t>
            </a:r>
          </a:p>
        </p:txBody>
      </p:sp>
      <p:sp>
        <p:nvSpPr>
          <p:cNvPr id="70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四轴位置/速度/力矩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双光栅尺位置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滚动曲线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耗时监视</a:t>
            </a:r>
          </a:p>
        </p:txBody>
      </p:sp>
      <p:sp>
        <p:nvSpPr>
          <p:cNvPr id="71" name="Box"/>
          <p:cNvSpPr/>
          <p:nvPr/>
        </p:nvSpPr>
        <p:spPr>
          <a:xfrm>
            <a:off x="640080" y="338328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72" name="Box"/>
          <p:cNvSpPr/>
          <p:nvPr/>
        </p:nvSpPr>
        <p:spPr>
          <a:xfrm>
            <a:off x="640080" y="3383280"/>
            <a:ext cx="3429000" cy="73152"/>
          </a:xfrm>
          <a:prstGeom prst="roundRect">
            <a:avLst/>
          </a:prstGeom>
          <a:solidFill>
            <a:srgbClr val="D9822B"/>
          </a:solidFill>
          <a:ln w="10000">
            <a:solidFill>
              <a:srgbClr val="D9822B"/>
            </a:solidFill>
          </a:ln>
        </p:spPr>
      </p:sp>
      <p:sp>
        <p:nvSpPr>
          <p:cNvPr id="73" name="Text"/>
          <p:cNvSpPr txBox="1"/>
          <p:nvPr/>
        </p:nvSpPr>
        <p:spPr>
          <a:xfrm>
            <a:off x="841247" y="35478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数据记录</a:t>
            </a:r>
          </a:p>
        </p:txBody>
      </p:sp>
      <p:sp>
        <p:nvSpPr>
          <p:cNvPr id="74" name="Bullets"/>
          <p:cNvSpPr txBox="1"/>
          <p:nvPr/>
        </p:nvSpPr>
        <p:spPr>
          <a:xfrm>
            <a:off x="841247" y="398678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Data_时间.txt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记录四轴与光栅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用于实验复盘</a:t>
            </a:r>
          </a:p>
        </p:txBody>
      </p:sp>
      <p:sp>
        <p:nvSpPr>
          <p:cNvPr id="75" name="Box"/>
          <p:cNvSpPr/>
          <p:nvPr/>
        </p:nvSpPr>
        <p:spPr>
          <a:xfrm>
            <a:off x="4389120" y="338328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76" name="Box"/>
          <p:cNvSpPr/>
          <p:nvPr/>
        </p:nvSpPr>
        <p:spPr>
          <a:xfrm>
            <a:off x="4389120" y="3383280"/>
            <a:ext cx="3429000" cy="73152"/>
          </a:xfrm>
          <a:prstGeom prst="roundRect">
            <a:avLst/>
          </a:prstGeom>
          <a:solidFill>
            <a:srgbClr val="C94F4F"/>
          </a:solidFill>
          <a:ln w="10000">
            <a:solidFill>
              <a:srgbClr val="C94F4F"/>
            </a:solidFill>
          </a:ln>
        </p:spPr>
      </p:sp>
      <p:sp>
        <p:nvSpPr>
          <p:cNvPr id="77" name="Text"/>
          <p:cNvSpPr txBox="1"/>
          <p:nvPr/>
        </p:nvSpPr>
        <p:spPr>
          <a:xfrm>
            <a:off x="4590288" y="35478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MIT 力反馈</a:t>
            </a:r>
          </a:p>
        </p:txBody>
      </p:sp>
      <p:sp>
        <p:nvSpPr>
          <p:cNvPr id="78" name="Bullets"/>
          <p:cNvSpPr txBox="1"/>
          <p:nvPr/>
        </p:nvSpPr>
        <p:spPr>
          <a:xfrm>
            <a:off x="4590288" y="398678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500Hz 力矩闭环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PD + 摩擦补偿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双组力矩分配</a:t>
            </a:r>
          </a:p>
        </p:txBody>
      </p:sp>
      <p:sp>
        <p:nvSpPr>
          <p:cNvPr id="79" name="Box"/>
          <p:cNvSpPr/>
          <p:nvPr/>
        </p:nvSpPr>
        <p:spPr>
          <a:xfrm>
            <a:off x="8138159" y="338328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80" name="Box"/>
          <p:cNvSpPr/>
          <p:nvPr/>
        </p:nvSpPr>
        <p:spPr>
          <a:xfrm>
            <a:off x="8138159" y="338328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81" name="Text"/>
          <p:cNvSpPr txBox="1"/>
          <p:nvPr/>
        </p:nvSpPr>
        <p:spPr>
          <a:xfrm>
            <a:off x="8339327" y="35478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光栅归零</a:t>
            </a:r>
          </a:p>
        </p:txBody>
      </p:sp>
      <p:sp>
        <p:nvSpPr>
          <p:cNvPr id="82" name="Bullets"/>
          <p:cNvSpPr txBox="1"/>
          <p:nvPr/>
        </p:nvSpPr>
        <p:spPr>
          <a:xfrm>
            <a:off x="8339327" y="398678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力矩寻找极值点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稳定后设置偏置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通道自动探测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84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程序启动与主窗口职责</a:t>
            </a:r>
          </a:p>
        </p:txBody>
      </p:sp>
      <p:sp>
        <p:nvSpPr>
          <p:cNvPr id="85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04</a:t>
            </a:r>
          </a:p>
        </p:txBody>
      </p:sp>
      <p:cxnSp>
        <p:nvCxnSpPr>
          <p:cNvPr id="86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87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88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89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main.cpp 启动流程</a:t>
            </a:r>
          </a:p>
        </p:txBody>
      </p:sp>
      <p:sp>
        <p:nvSpPr>
          <p:cNvPr id="90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创建 QApplication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实例化 QtMotorConsole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show() 显示主窗口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进入 app.exec()</a:t>
            </a:r>
          </a:p>
        </p:txBody>
      </p:sp>
      <p:sp>
        <p:nvSpPr>
          <p:cNvPr id="91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92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93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QtMotorConsole 职责</a:t>
            </a:r>
          </a:p>
        </p:txBody>
      </p:sp>
      <p:sp>
        <p:nvSpPr>
          <p:cNvPr id="94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UI 状态初始化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曲线场景与定时器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按钮与控制 API 绑定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updateWave 刷新曲线</a:t>
            </a:r>
          </a:p>
        </p:txBody>
      </p:sp>
      <p:sp>
        <p:nvSpPr>
          <p:cNvPr id="95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96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D9822B"/>
          </a:solidFill>
          <a:ln w="10000">
            <a:solidFill>
              <a:srgbClr val="D9822B"/>
            </a:solidFill>
          </a:ln>
        </p:spPr>
      </p:sp>
      <p:sp>
        <p:nvSpPr>
          <p:cNvPr id="97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关闭流程</a:t>
            </a:r>
          </a:p>
        </p:txBody>
      </p:sp>
      <p:sp>
        <p:nvSpPr>
          <p:cNvPr id="98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stopSampleThread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CloseCard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停止力反馈和归零线程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失能所有有效轴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00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数据流：从板卡到曲线与文件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05</a:t>
            </a:r>
          </a:p>
        </p:txBody>
      </p:sp>
      <p:cxnSp>
        <p:nvCxnSpPr>
          <p:cNvPr id="102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03" name="Box"/>
          <p:cNvSpPr/>
          <p:nvPr/>
        </p:nvSpPr>
        <p:spPr>
          <a:xfrm>
            <a:off x="685800" y="1417320"/>
            <a:ext cx="2148840" cy="1143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04" name="Text"/>
          <p:cNvSpPr txBox="1"/>
          <p:nvPr/>
        </p:nvSpPr>
        <p:spPr>
          <a:xfrm>
            <a:off x="822960" y="1600200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500" b="1">
                <a:solidFill>
                  <a:srgbClr val="183153"/>
                </a:solidFill>
                <a:latin typeface="Microsoft YaHei"/>
                <a:ea typeface="Microsoft YaHei"/>
              </a:rPr>
              <a:t>控制卡 / EtherCAT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822960" y="1993392"/>
            <a:ext cx="18745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200" b="0">
                <a:solidFill>
                  <a:srgbClr val="607080"/>
                </a:solidFill>
                <a:latin typeface="Microsoft YaHei"/>
                <a:ea typeface="Microsoft YaHei"/>
              </a:rPr>
              <a:t>MultiCard DLL
伺服与编码器</a:t>
            </a:r>
          </a:p>
        </p:txBody>
      </p:sp>
      <p:sp>
        <p:nvSpPr>
          <p:cNvPr id="106" name="Box"/>
          <p:cNvSpPr/>
          <p:nvPr/>
        </p:nvSpPr>
        <p:spPr>
          <a:xfrm>
            <a:off x="3337560" y="1417320"/>
            <a:ext cx="2148840" cy="1143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07" name="Text"/>
          <p:cNvSpPr txBox="1"/>
          <p:nvPr/>
        </p:nvSpPr>
        <p:spPr>
          <a:xfrm>
            <a:off x="3474720" y="1600200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500" b="1">
                <a:solidFill>
                  <a:srgbClr val="183153"/>
                </a:solidFill>
                <a:latin typeface="Microsoft YaHei"/>
                <a:ea typeface="Microsoft YaHei"/>
              </a:rPr>
              <a:t>采样线程</a:t>
            </a:r>
          </a:p>
        </p:txBody>
      </p:sp>
      <p:sp>
        <p:nvSpPr>
          <p:cNvPr id="108" name="Text"/>
          <p:cNvSpPr txBox="1"/>
          <p:nvPr/>
        </p:nvSpPr>
        <p:spPr>
          <a:xfrm>
            <a:off x="3474720" y="1993392"/>
            <a:ext cx="18745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200" b="0">
                <a:solidFill>
                  <a:srgbClr val="607080"/>
                </a:solidFill>
                <a:latin typeface="Microsoft YaHei"/>
                <a:ea typeface="Microsoft YaHei"/>
              </a:rPr>
              <a:t>约 3ms 周期
ReadFastSample</a:t>
            </a:r>
          </a:p>
        </p:txBody>
      </p:sp>
      <p:sp>
        <p:nvSpPr>
          <p:cNvPr id="109" name="Box"/>
          <p:cNvSpPr/>
          <p:nvPr/>
        </p:nvSpPr>
        <p:spPr>
          <a:xfrm>
            <a:off x="5989320" y="1417320"/>
            <a:ext cx="2148840" cy="1143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10" name="Text"/>
          <p:cNvSpPr txBox="1"/>
          <p:nvPr/>
        </p:nvSpPr>
        <p:spPr>
          <a:xfrm>
            <a:off x="6126480" y="1600200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500" b="1">
                <a:solidFill>
                  <a:srgbClr val="183153"/>
                </a:solidFill>
                <a:latin typeface="Microsoft YaHei"/>
                <a:ea typeface="Microsoft YaHei"/>
              </a:rPr>
              <a:t>最新样本缓存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6126480" y="1993392"/>
            <a:ext cx="18745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200" b="0">
                <a:solidFill>
                  <a:srgbClr val="607080"/>
                </a:solidFill>
                <a:latin typeface="Microsoft YaHei"/>
                <a:ea typeface="Microsoft YaHei"/>
              </a:rPr>
              <a:t>mutex 保护
SampleState</a:t>
            </a:r>
          </a:p>
        </p:txBody>
      </p:sp>
      <p:sp>
        <p:nvSpPr>
          <p:cNvPr id="112" name="Box"/>
          <p:cNvSpPr/>
          <p:nvPr/>
        </p:nvSpPr>
        <p:spPr>
          <a:xfrm>
            <a:off x="8641080" y="1417320"/>
            <a:ext cx="2148840" cy="1143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13" name="Text"/>
          <p:cNvSpPr txBox="1"/>
          <p:nvPr/>
        </p:nvSpPr>
        <p:spPr>
          <a:xfrm>
            <a:off x="8778240" y="1600200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500" b="1">
                <a:solidFill>
                  <a:srgbClr val="183153"/>
                </a:solidFill>
                <a:latin typeface="Microsoft YaHei"/>
                <a:ea typeface="Microsoft YaHei"/>
              </a:rPr>
              <a:t>UI 刷新</a:t>
            </a:r>
          </a:p>
        </p:txBody>
      </p:sp>
      <p:sp>
        <p:nvSpPr>
          <p:cNvPr id="114" name="Text"/>
          <p:cNvSpPr txBox="1"/>
          <p:nvPr/>
        </p:nvSpPr>
        <p:spPr>
          <a:xfrm>
            <a:off x="8778240" y="1993392"/>
            <a:ext cx="187451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200" b="0">
                <a:solidFill>
                  <a:srgbClr val="607080"/>
                </a:solidFill>
                <a:latin typeface="Microsoft YaHei"/>
                <a:ea typeface="Microsoft YaHei"/>
              </a:rPr>
              <a:t>10ms 周期
updateWave</a:t>
            </a:r>
          </a:p>
        </p:txBody>
      </p:sp>
      <p:cxnSp>
        <p:nvCxnSpPr>
          <p:cNvPr id="115" name="Line"/>
          <p:cNvCxnSpPr/>
          <p:nvPr/>
        </p:nvCxnSpPr>
        <p:spPr>
          <a:xfrm>
            <a:off x="2834640" y="1965960"/>
            <a:ext cx="457200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cxnSp>
        <p:nvCxnSpPr>
          <p:cNvPr id="116" name="Line"/>
          <p:cNvCxnSpPr/>
          <p:nvPr/>
        </p:nvCxnSpPr>
        <p:spPr>
          <a:xfrm>
            <a:off x="5486400" y="1965960"/>
            <a:ext cx="457200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cxnSp>
        <p:nvCxnSpPr>
          <p:cNvPr id="117" name="Line"/>
          <p:cNvCxnSpPr/>
          <p:nvPr/>
        </p:nvCxnSpPr>
        <p:spPr>
          <a:xfrm>
            <a:off x="8138160" y="1965960"/>
            <a:ext cx="457200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cxnSp>
        <p:nvCxnSpPr>
          <p:cNvPr id="118" name="Line"/>
          <p:cNvCxnSpPr/>
          <p:nvPr/>
        </p:nvCxnSpPr>
        <p:spPr>
          <a:xfrm>
            <a:off x="7086600" y="2606040"/>
            <a:ext cx="9144" cy="1097279"/>
          </a:xfrm>
          <a:prstGeom prst="line">
            <a:avLst/>
          </a:prstGeom>
          <a:ln w="25400">
            <a:solidFill>
              <a:srgbClr val="2E8B57"/>
            </a:solidFill>
            <a:headEnd type="triangle"/>
          </a:ln>
        </p:spPr>
      </p:cxnSp>
      <p:sp>
        <p:nvSpPr>
          <p:cNvPr id="119" name="Box"/>
          <p:cNvSpPr/>
          <p:nvPr/>
        </p:nvSpPr>
        <p:spPr>
          <a:xfrm>
            <a:off x="5806440" y="3749039"/>
            <a:ext cx="2606040" cy="914400"/>
          </a:xfrm>
          <a:prstGeom prst="roundRect">
            <a:avLst/>
          </a:prstGeom>
          <a:solidFill>
            <a:srgbClr val="EAF3F8"/>
          </a:solidFill>
          <a:ln w="10000">
            <a:solidFill>
              <a:srgbClr val="C7D0DD"/>
            </a:solidFill>
          </a:ln>
        </p:spPr>
      </p:sp>
      <p:sp>
        <p:nvSpPr>
          <p:cNvPr id="120" name="Text"/>
          <p:cNvSpPr txBox="1"/>
          <p:nvPr/>
        </p:nvSpPr>
        <p:spPr>
          <a:xfrm>
            <a:off x="5989320" y="39319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数据记录</a:t>
            </a:r>
          </a:p>
        </p:txBody>
      </p:sp>
      <p:sp>
        <p:nvSpPr>
          <p:cNvPr id="121" name="Text"/>
          <p:cNvSpPr txBox="1"/>
          <p:nvPr/>
        </p:nvSpPr>
        <p:spPr>
          <a:xfrm>
            <a:off x="5943600" y="42519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200" b="0">
                <a:solidFill>
                  <a:srgbClr val="607080"/>
                </a:solidFill>
                <a:latin typeface="Microsoft YaHei"/>
                <a:ea typeface="Microsoft YaHei"/>
              </a:rPr>
              <a:t>RecordDataSample 写入 txt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607080"/>
                </a:solidFill>
                <a:latin typeface="Microsoft YaHei"/>
                <a:ea typeface="Microsoft YaHei"/>
              </a:rPr>
              <a:t>收益：采样、显示、记录彼此解耦，降低 UI 卡顿风险，并便于后续替换实现。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24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运动控制实现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06</a:t>
            </a:r>
          </a:p>
        </p:txBody>
      </p:sp>
      <p:cxnSp>
        <p:nvCxnSpPr>
          <p:cNvPr id="126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27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28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129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位置模式 CSP</a:t>
            </a:r>
          </a:p>
        </p:txBody>
      </p:sp>
      <p:sp>
        <p:nvSpPr>
          <p:cNvPr id="130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StopForceFeedback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SwitchAxisMode(0x08)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EnableAxisCiA402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写 607Ah 目标位置</a:t>
            </a:r>
          </a:p>
        </p:txBody>
      </p:sp>
      <p:sp>
        <p:nvSpPr>
          <p:cNvPr id="131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32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133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速度模式 CSV</a:t>
            </a:r>
          </a:p>
        </p:txBody>
      </p:sp>
      <p:sp>
        <p:nvSpPr>
          <p:cNvPr id="134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清零 60FFh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SwitchAxisMode(0x09)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CiA402 使能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写目标速度 60FFh</a:t>
            </a:r>
          </a:p>
        </p:txBody>
      </p:sp>
      <p:sp>
        <p:nvSpPr>
          <p:cNvPr id="135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36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C94F4F"/>
          </a:solidFill>
          <a:ln w="10000">
            <a:solidFill>
              <a:srgbClr val="C94F4F"/>
            </a:solidFill>
          </a:ln>
        </p:spPr>
      </p:sp>
      <p:sp>
        <p:nvSpPr>
          <p:cNvPr id="137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力矩模式 CST</a:t>
            </a:r>
          </a:p>
        </p:txBody>
      </p:sp>
      <p:sp>
        <p:nvSpPr>
          <p:cNvPr id="138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目标力矩限幅 ±1000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读取 6072 最大力矩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确认 PA25=3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写 6071h 目标力矩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40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CiA402 与安全失能</a:t>
            </a:r>
          </a:p>
        </p:txBody>
      </p:sp>
      <p:sp>
        <p:nvSpPr>
          <p:cNvPr id="141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07</a:t>
            </a:r>
          </a:p>
        </p:txBody>
      </p:sp>
      <p:cxnSp>
        <p:nvCxnSpPr>
          <p:cNvPr id="142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43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44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145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使能流程</a:t>
            </a:r>
          </a:p>
        </p:txBody>
      </p:sp>
      <p:sp>
        <p:nvSpPr>
          <p:cNvPr id="146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读取状态字 6041h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故障状态写 0x0080 复位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Shutdown → Switch on → Enable operation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超时输出诊断信息</a:t>
            </a:r>
          </a:p>
        </p:txBody>
      </p:sp>
      <p:sp>
        <p:nvSpPr>
          <p:cNvPr id="147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48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D9822B"/>
          </a:solidFill>
          <a:ln w="10000">
            <a:solidFill>
              <a:srgbClr val="D9822B"/>
            </a:solidFill>
          </a:ln>
        </p:spPr>
      </p:sp>
      <p:sp>
        <p:nvSpPr>
          <p:cNvPr id="149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失能策略</a:t>
            </a:r>
          </a:p>
        </p:txBody>
      </p:sp>
      <p:sp>
        <p:nvSpPr>
          <p:cNvPr id="150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停止规划器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清除目标速度/力矩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等待速度接近 0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AxisOff 并清状态</a:t>
            </a:r>
          </a:p>
        </p:txBody>
      </p:sp>
      <p:sp>
        <p:nvSpPr>
          <p:cNvPr id="151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52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153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可靠性设计</a:t>
            </a:r>
          </a:p>
        </p:txBody>
      </p:sp>
      <p:sp>
        <p:nvSpPr>
          <p:cNvPr id="154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模式切换前停规划器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开卡失败自动关闭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关闭控制卡前全轴失能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保留日志诊断信息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56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MIT 力反馈闭环</a:t>
            </a:r>
          </a:p>
        </p:txBody>
      </p:sp>
      <p:sp>
        <p:nvSpPr>
          <p:cNvPr id="157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08</a:t>
            </a:r>
          </a:p>
        </p:txBody>
      </p:sp>
      <p:cxnSp>
        <p:nvCxnSpPr>
          <p:cNvPr id="158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59" name="Text"/>
          <p:cNvSpPr txBox="1"/>
          <p:nvPr/>
        </p:nvSpPr>
        <p:spPr>
          <a:xfrm>
            <a:off x="731520" y="105156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 b="0">
                <a:solidFill>
                  <a:srgbClr val="607080"/>
                </a:solidFill>
                <a:latin typeface="Microsoft YaHei"/>
                <a:ea typeface="Microsoft YaHei"/>
              </a:rPr>
              <a:t>目标：用双光栅尺位置误差生成力矩，让两组直驱/减速电机形成力反馈。</a:t>
            </a:r>
          </a:p>
        </p:txBody>
      </p:sp>
      <p:sp>
        <p:nvSpPr>
          <p:cNvPr id="160" name="Box"/>
          <p:cNvSpPr/>
          <p:nvPr/>
        </p:nvSpPr>
        <p:spPr>
          <a:xfrm>
            <a:off x="731520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61" name="Text"/>
          <p:cNvSpPr txBox="1"/>
          <p:nvPr/>
        </p:nvSpPr>
        <p:spPr>
          <a:xfrm>
            <a:off x="841248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读取光栅位置</a:t>
            </a:r>
          </a:p>
        </p:txBody>
      </p:sp>
      <p:cxnSp>
        <p:nvCxnSpPr>
          <p:cNvPr id="162" name="Line"/>
          <p:cNvCxnSpPr/>
          <p:nvPr/>
        </p:nvCxnSpPr>
        <p:spPr>
          <a:xfrm>
            <a:off x="2304288" y="2487168"/>
            <a:ext cx="301751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sp>
        <p:nvSpPr>
          <p:cNvPr id="163" name="Box"/>
          <p:cNvSpPr/>
          <p:nvPr/>
        </p:nvSpPr>
        <p:spPr>
          <a:xfrm>
            <a:off x="2606039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64" name="Text"/>
          <p:cNvSpPr txBox="1"/>
          <p:nvPr/>
        </p:nvSpPr>
        <p:spPr>
          <a:xfrm>
            <a:off x="2715768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500Hz 差分算速度</a:t>
            </a:r>
          </a:p>
        </p:txBody>
      </p:sp>
      <p:cxnSp>
        <p:nvCxnSpPr>
          <p:cNvPr id="165" name="Line"/>
          <p:cNvCxnSpPr/>
          <p:nvPr/>
        </p:nvCxnSpPr>
        <p:spPr>
          <a:xfrm>
            <a:off x="4178807" y="2487168"/>
            <a:ext cx="301752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sp>
        <p:nvSpPr>
          <p:cNvPr id="166" name="Box"/>
          <p:cNvSpPr/>
          <p:nvPr/>
        </p:nvSpPr>
        <p:spPr>
          <a:xfrm>
            <a:off x="4480559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67" name="Text"/>
          <p:cNvSpPr txBox="1"/>
          <p:nvPr/>
        </p:nvSpPr>
        <p:spPr>
          <a:xfrm>
            <a:off x="4590288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PD 控制</a:t>
            </a:r>
          </a:p>
        </p:txBody>
      </p:sp>
      <p:cxnSp>
        <p:nvCxnSpPr>
          <p:cNvPr id="168" name="Line"/>
          <p:cNvCxnSpPr/>
          <p:nvPr/>
        </p:nvCxnSpPr>
        <p:spPr>
          <a:xfrm>
            <a:off x="6053327" y="2487168"/>
            <a:ext cx="301752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sp>
        <p:nvSpPr>
          <p:cNvPr id="169" name="Box"/>
          <p:cNvSpPr/>
          <p:nvPr/>
        </p:nvSpPr>
        <p:spPr>
          <a:xfrm>
            <a:off x="6355079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70" name="Text"/>
          <p:cNvSpPr txBox="1"/>
          <p:nvPr/>
        </p:nvSpPr>
        <p:spPr>
          <a:xfrm>
            <a:off x="6464807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摩擦补偿</a:t>
            </a:r>
          </a:p>
        </p:txBody>
      </p:sp>
      <p:cxnSp>
        <p:nvCxnSpPr>
          <p:cNvPr id="171" name="Line"/>
          <p:cNvCxnSpPr/>
          <p:nvPr/>
        </p:nvCxnSpPr>
        <p:spPr>
          <a:xfrm>
            <a:off x="7927848" y="2487168"/>
            <a:ext cx="301752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sp>
        <p:nvSpPr>
          <p:cNvPr id="172" name="Box"/>
          <p:cNvSpPr/>
          <p:nvPr/>
        </p:nvSpPr>
        <p:spPr>
          <a:xfrm>
            <a:off x="8229600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73" name="Text"/>
          <p:cNvSpPr txBox="1"/>
          <p:nvPr/>
        </p:nvSpPr>
        <p:spPr>
          <a:xfrm>
            <a:off x="8339327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直驱/减速力矩分配</a:t>
            </a:r>
          </a:p>
        </p:txBody>
      </p:sp>
      <p:cxnSp>
        <p:nvCxnSpPr>
          <p:cNvPr id="174" name="Line"/>
          <p:cNvCxnSpPr/>
          <p:nvPr/>
        </p:nvCxnSpPr>
        <p:spPr>
          <a:xfrm>
            <a:off x="9802368" y="2487168"/>
            <a:ext cx="301752" cy="9144"/>
          </a:xfrm>
          <a:prstGeom prst="line">
            <a:avLst/>
          </a:prstGeom>
          <a:ln w="25400">
            <a:solidFill>
              <a:srgbClr val="2474A6"/>
            </a:solidFill>
            <a:headEnd type="triangle"/>
          </a:ln>
        </p:spPr>
      </p:cxnSp>
      <p:sp>
        <p:nvSpPr>
          <p:cNvPr id="175" name="Box"/>
          <p:cNvSpPr/>
          <p:nvPr/>
        </p:nvSpPr>
        <p:spPr>
          <a:xfrm>
            <a:off x="10104120" y="1965960"/>
            <a:ext cx="1572768" cy="10515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76" name="Text"/>
          <p:cNvSpPr txBox="1"/>
          <p:nvPr/>
        </p:nvSpPr>
        <p:spPr>
          <a:xfrm>
            <a:off x="10213848" y="2286000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300" b="1">
                <a:solidFill>
                  <a:srgbClr val="183153"/>
                </a:solidFill>
                <a:latin typeface="Microsoft YaHei"/>
                <a:ea typeface="Microsoft YaHei"/>
              </a:rPr>
              <a:t>写 6071h 并 Update</a:t>
            </a:r>
          </a:p>
        </p:txBody>
      </p:sp>
      <p:sp>
        <p:nvSpPr>
          <p:cNvPr id="177" name="Box"/>
          <p:cNvSpPr/>
          <p:nvPr/>
        </p:nvSpPr>
        <p:spPr>
          <a:xfrm>
            <a:off x="914400" y="4069080"/>
            <a:ext cx="10287000" cy="1051560"/>
          </a:xfrm>
          <a:prstGeom prst="roundRect">
            <a:avLst/>
          </a:prstGeom>
          <a:solidFill>
            <a:srgbClr val="EAF3F8"/>
          </a:solidFill>
          <a:ln w="10000">
            <a:solidFill>
              <a:srgbClr val="C7D0DD"/>
            </a:solidFill>
          </a:ln>
        </p:spPr>
      </p:sp>
      <p:sp>
        <p:nvSpPr>
          <p:cNvPr id="178" name="Bullets"/>
          <p:cNvSpPr txBox="1"/>
          <p:nvPr/>
        </p:nvSpPr>
        <p:spPr>
          <a:xfrm>
            <a:off x="1188720" y="429768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600">
                <a:solidFill>
                  <a:srgbClr val="263238"/>
                </a:solidFill>
                <a:latin typeface="Microsoft YaHei"/>
                <a:ea typeface="Microsoft YaHei"/>
              </a:rPr>
              <a:t>异常保护：光栅读取失败时清零本周期力矩；停止时清零四轴力矩并执行安全失能。</a:t>
            </a:r>
          </a:p>
          <a:p>
            <a:pPr marL="285750" indent="-171450">
              <a:buChar char="•"/>
            </a:pPr>
            <a:r>
              <a:rPr lang="zh-CN" sz="1600">
                <a:solidFill>
                  <a:srgbClr val="263238"/>
                </a:solidFill>
                <a:latin typeface="Microsoft YaHei"/>
                <a:ea typeface="Microsoft YaHei"/>
              </a:rPr>
              <a:t>性能监控：每秒显示力反馈线程 1 秒内最大执行耗时。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80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实时采样与曲线显示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09</a:t>
            </a:r>
          </a:p>
        </p:txBody>
      </p:sp>
      <p:cxnSp>
        <p:nvCxnSpPr>
          <p:cNvPr id="182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83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84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185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采样线程</a:t>
            </a:r>
          </a:p>
        </p:txBody>
      </p:sp>
      <p:sp>
        <p:nvSpPr>
          <p:cNvPr id="186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高优先级线程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周期约 3ms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批量读位置/速度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力矩按轴轮询</a:t>
            </a:r>
          </a:p>
        </p:txBody>
      </p:sp>
      <p:sp>
        <p:nvSpPr>
          <p:cNvPr id="187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88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8E44AD"/>
          </a:solidFill>
          <a:ln w="10000">
            <a:solidFill>
              <a:srgbClr val="8E44AD"/>
            </a:solidFill>
          </a:ln>
        </p:spPr>
      </p:sp>
      <p:sp>
        <p:nvSpPr>
          <p:cNvPr id="189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曲线刷新</a:t>
            </a:r>
          </a:p>
        </p:txBody>
      </p:sp>
      <p:sp>
        <p:nvSpPr>
          <p:cNvPr id="190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UI 定时器 10ms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保留 500 个点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位置/光栅换算 kpulse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双 Y 轴显示</a:t>
            </a:r>
          </a:p>
        </p:txBody>
      </p:sp>
      <p:sp>
        <p:nvSpPr>
          <p:cNvPr id="191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192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193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滤波与适配</a:t>
            </a:r>
          </a:p>
        </p:txBody>
      </p:sp>
      <p:sp>
        <p:nvSpPr>
          <p:cNvPr id="194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截尾均值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指数滤波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光栅2自动探测通道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采样最大耗时监控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196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数据记录与实验复盘</a:t>
            </a:r>
          </a:p>
        </p:txBody>
      </p:sp>
      <p:sp>
        <p:nvSpPr>
          <p:cNvPr id="197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10</a:t>
            </a:r>
          </a:p>
        </p:txBody>
      </p:sp>
      <p:cxnSp>
        <p:nvCxnSpPr>
          <p:cNvPr id="198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199" name="Box"/>
          <p:cNvSpPr/>
          <p:nvPr/>
        </p:nvSpPr>
        <p:spPr>
          <a:xfrm>
            <a:off x="822960" y="1143000"/>
            <a:ext cx="10515600" cy="960120"/>
          </a:xfrm>
          <a:prstGeom prst="roundRect">
            <a:avLst/>
          </a:prstGeom>
          <a:solidFill>
            <a:srgbClr val="EAF3F8"/>
          </a:solidFill>
          <a:ln w="10000">
            <a:solidFill>
              <a:srgbClr val="C7D0DD"/>
            </a:solidFill>
          </a:ln>
        </p:spPr>
      </p:sp>
      <p:sp>
        <p:nvSpPr>
          <p:cNvPr id="200" name="Text"/>
          <p:cNvSpPr txBox="1"/>
          <p:nvPr/>
        </p:nvSpPr>
        <p:spPr>
          <a:xfrm>
            <a:off x="1097280" y="137160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900" b="1">
                <a:solidFill>
                  <a:srgbClr val="183153"/>
                </a:solidFill>
                <a:latin typeface="Microsoft YaHei"/>
                <a:ea typeface="Microsoft YaHei"/>
              </a:rPr>
              <a:t>记录文件：Data_yyyyMMdd_hhmmss.txt，按采样序号写入每次最新样本。</a:t>
            </a:r>
          </a:p>
        </p:txBody>
      </p:sp>
      <p:sp>
        <p:nvSpPr>
          <p:cNvPr id="201" name="Box"/>
          <p:cNvSpPr/>
          <p:nvPr/>
        </p:nvSpPr>
        <p:spPr>
          <a:xfrm>
            <a:off x="914400" y="2606040"/>
            <a:ext cx="10241280" cy="20574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202" name="Text"/>
          <p:cNvSpPr txBox="1"/>
          <p:nvPr/>
        </p:nvSpPr>
        <p:spPr>
          <a:xfrm>
            <a:off x="1188720" y="28803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 b="1">
                <a:solidFill>
                  <a:srgbClr val="183153"/>
                </a:solidFill>
                <a:latin typeface="Microsoft YaHei"/>
                <a:ea typeface="Microsoft YaHei"/>
              </a:rPr>
              <a:t>记录字段</a:t>
            </a:r>
          </a:p>
        </p:txBody>
      </p:sp>
      <p:sp>
        <p:nvSpPr>
          <p:cNvPr id="203" name="Bullets"/>
          <p:cNvSpPr txBox="1"/>
          <p:nvPr/>
        </p:nvSpPr>
        <p:spPr>
          <a:xfrm>
            <a:off x="1234440" y="3337560"/>
            <a:ext cx="95097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time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motor1~motor4：pos / vel / torque</a:t>
            </a:r>
          </a:p>
          <a:p>
            <a:pPr marL="285750" indent="-171450">
              <a:buChar char="•"/>
            </a:pPr>
            <a:r>
              <a:rPr lang="zh-CN" sz="1800">
                <a:solidFill>
                  <a:srgbClr val="263238"/>
                </a:solidFill>
                <a:latin typeface="Microsoft YaHei"/>
                <a:ea typeface="Microsoft YaHei"/>
              </a:rPr>
              <a:t>grating1_pos / grating2_pos</a:t>
            </a:r>
          </a:p>
        </p:txBody>
      </p:sp>
      <p:sp>
        <p:nvSpPr>
          <p:cNvPr id="204" name="Text"/>
          <p:cNvSpPr txBox="1"/>
          <p:nvPr/>
        </p:nvSpPr>
        <p:spPr>
          <a:xfrm>
            <a:off x="914400" y="534924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0">
                <a:solidFill>
                  <a:srgbClr val="607080"/>
                </a:solidFill>
                <a:latin typeface="Microsoft YaHei"/>
                <a:ea typeface="Microsoft YaHei"/>
              </a:rPr>
              <a:t>价值：复盘控制过程、定位异常波形、对比不同参数下的响应效果。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206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工程化亮点与后续优化</a:t>
            </a:r>
          </a:p>
        </p:txBody>
      </p:sp>
      <p:sp>
        <p:nvSpPr>
          <p:cNvPr id="207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11</a:t>
            </a:r>
          </a:p>
        </p:txBody>
      </p:sp>
      <p:cxnSp>
        <p:nvCxnSpPr>
          <p:cNvPr id="208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209" name="Box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210" name="Box"/>
          <p:cNvSpPr/>
          <p:nvPr/>
        </p:nvSpPr>
        <p:spPr>
          <a:xfrm>
            <a:off x="640080" y="1143000"/>
            <a:ext cx="3429000" cy="73152"/>
          </a:xfrm>
          <a:prstGeom prst="roundRect">
            <a:avLst/>
          </a:prstGeom>
          <a:solidFill>
            <a:srgbClr val="2474A6"/>
          </a:solidFill>
          <a:ln w="10000">
            <a:solidFill>
              <a:srgbClr val="2474A6"/>
            </a:solidFill>
          </a:ln>
        </p:spPr>
      </p:sp>
      <p:sp>
        <p:nvSpPr>
          <p:cNvPr id="211" name="Text"/>
          <p:cNvSpPr txBox="1"/>
          <p:nvPr/>
        </p:nvSpPr>
        <p:spPr>
          <a:xfrm>
            <a:off x="84124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亮点：实时性</a:t>
            </a:r>
          </a:p>
        </p:txBody>
      </p:sp>
      <p:sp>
        <p:nvSpPr>
          <p:cNvPr id="212" name="Bullets"/>
          <p:cNvSpPr txBox="1"/>
          <p:nvPr/>
        </p:nvSpPr>
        <p:spPr>
          <a:xfrm>
            <a:off x="84124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采样约 3ms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力反馈 500Hz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UI 10ms 刷新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最大耗时监视</a:t>
            </a:r>
          </a:p>
        </p:txBody>
      </p:sp>
      <p:sp>
        <p:nvSpPr>
          <p:cNvPr id="213" name="Box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214" name="Box"/>
          <p:cNvSpPr/>
          <p:nvPr/>
        </p:nvSpPr>
        <p:spPr>
          <a:xfrm>
            <a:off x="4389120" y="1143000"/>
            <a:ext cx="3429000" cy="73152"/>
          </a:xfrm>
          <a:prstGeom prst="roundRect">
            <a:avLst/>
          </a:prstGeom>
          <a:solidFill>
            <a:srgbClr val="2E8B57"/>
          </a:solidFill>
          <a:ln w="10000">
            <a:solidFill>
              <a:srgbClr val="2E8B57"/>
            </a:solidFill>
          </a:ln>
        </p:spPr>
      </p:sp>
      <p:sp>
        <p:nvSpPr>
          <p:cNvPr id="215" name="Text"/>
          <p:cNvSpPr txBox="1"/>
          <p:nvPr/>
        </p:nvSpPr>
        <p:spPr>
          <a:xfrm>
            <a:off x="4590288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亮点：可靠性</a:t>
            </a:r>
          </a:p>
        </p:txBody>
      </p:sp>
      <p:sp>
        <p:nvSpPr>
          <p:cNvPr id="216" name="Bullets"/>
          <p:cNvSpPr txBox="1"/>
          <p:nvPr/>
        </p:nvSpPr>
        <p:spPr>
          <a:xfrm>
            <a:off x="4590288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开卡失败自动清理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CiA402 使能诊断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失能前清零并减速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光栅异常保护</a:t>
            </a:r>
          </a:p>
        </p:txBody>
      </p:sp>
      <p:sp>
        <p:nvSpPr>
          <p:cNvPr id="217" name="Box"/>
          <p:cNvSpPr/>
          <p:nvPr/>
        </p:nvSpPr>
        <p:spPr>
          <a:xfrm>
            <a:off x="8138159" y="1143000"/>
            <a:ext cx="3429000" cy="1828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7D0DD"/>
            </a:solidFill>
          </a:ln>
        </p:spPr>
      </p:sp>
      <p:sp>
        <p:nvSpPr>
          <p:cNvPr id="218" name="Box"/>
          <p:cNvSpPr/>
          <p:nvPr/>
        </p:nvSpPr>
        <p:spPr>
          <a:xfrm>
            <a:off x="8138159" y="1143000"/>
            <a:ext cx="3429000" cy="73152"/>
          </a:xfrm>
          <a:prstGeom prst="roundRect">
            <a:avLst/>
          </a:prstGeom>
          <a:solidFill>
            <a:srgbClr val="8E44AD"/>
          </a:solidFill>
          <a:ln w="10000">
            <a:solidFill>
              <a:srgbClr val="8E44AD"/>
            </a:solidFill>
          </a:ln>
        </p:spPr>
      </p:sp>
      <p:sp>
        <p:nvSpPr>
          <p:cNvPr id="219" name="Text"/>
          <p:cNvSpPr txBox="1"/>
          <p:nvPr/>
        </p:nvSpPr>
        <p:spPr>
          <a:xfrm>
            <a:off x="8339327" y="130759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700" b="1">
                <a:solidFill>
                  <a:srgbClr val="183153"/>
                </a:solidFill>
                <a:latin typeface="Microsoft YaHei"/>
                <a:ea typeface="Microsoft YaHei"/>
              </a:rPr>
              <a:t>优化方向</a:t>
            </a:r>
          </a:p>
        </p:txBody>
      </p:sp>
      <p:sp>
        <p:nvSpPr>
          <p:cNvPr id="220" name="Bullets"/>
          <p:cNvSpPr txBox="1"/>
          <p:nvPr/>
        </p:nvSpPr>
        <p:spPr>
          <a:xfrm>
            <a:off x="8339327" y="1746504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抽象 TelemetryService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抽象 ForceFeedbackService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参数配置与实验快照</a:t>
            </a:r>
          </a:p>
          <a:p>
            <a:pPr marL="285750" indent="-171450">
              <a:buChar char="•"/>
            </a:pPr>
            <a:r>
              <a:rPr lang="zh-CN" sz="1300">
                <a:solidFill>
                  <a:srgbClr val="263238"/>
                </a:solidFill>
                <a:latin typeface="Microsoft YaHei"/>
                <a:ea typeface="Microsoft YaHei"/>
              </a:rPr>
              <a:t>补充硬件联调用例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Box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  <a:solidFill>
            <a:srgbClr val="F7F9FC"/>
          </a:solidFill>
          <a:ln w="10000">
            <a:solidFill>
              <a:srgbClr val="F7F9FC"/>
            </a:solidFill>
          </a:ln>
        </p:spPr>
      </p:sp>
      <p:sp>
        <p:nvSpPr>
          <p:cNvPr id="222" name="Text"/>
          <p:cNvSpPr txBox="1"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500" b="1">
                <a:solidFill>
                  <a:srgbClr val="183153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23" name="Text"/>
          <p:cNvSpPr txBox="1"/>
          <p:nvPr/>
        </p:nvSpPr>
        <p:spPr>
          <a:xfrm>
            <a:off x="10332720" y="3474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000" b="0">
                <a:solidFill>
                  <a:srgbClr val="607080"/>
                </a:solidFill>
                <a:latin typeface="Microsoft YaHei"/>
                <a:ea typeface="Microsoft YaHei"/>
              </a:rPr>
              <a:t>12</a:t>
            </a:r>
          </a:p>
        </p:txBody>
      </p:sp>
      <p:cxnSp>
        <p:nvCxnSpPr>
          <p:cNvPr id="224" name="Line"/>
          <p:cNvCxnSpPr/>
          <p:nvPr/>
        </p:nvCxnSpPr>
        <p:spPr>
          <a:xfrm>
            <a:off x="502920" y="822960"/>
            <a:ext cx="11201400" cy="9144"/>
          </a:xfrm>
          <a:prstGeom prst="line">
            <a:avLst/>
          </a:prstGeom>
          <a:ln w="25400">
            <a:solidFill>
              <a:srgbClr val="C7D0DD"/>
            </a:solidFill>
          </a:ln>
        </p:spPr>
      </p:cxnSp>
      <p:sp>
        <p:nvSpPr>
          <p:cNvPr id="225" name="Text"/>
          <p:cNvSpPr txBox="1"/>
          <p:nvPr/>
        </p:nvSpPr>
        <p:spPr>
          <a:xfrm>
            <a:off x="868680" y="12344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2700" b="1">
                <a:solidFill>
                  <a:srgbClr val="183153"/>
                </a:solidFill>
                <a:latin typeface="Microsoft YaHei"/>
                <a:ea typeface="Microsoft YaHei"/>
              </a:rPr>
              <a:t>QtMotorConsole 已形成一个可演示、可调试、可扩展的电机控制上位机。</a:t>
            </a:r>
          </a:p>
        </p:txBody>
      </p:sp>
      <p:sp>
        <p:nvSpPr>
          <p:cNvPr id="226" name="Box"/>
          <p:cNvSpPr/>
          <p:nvPr/>
        </p:nvSpPr>
        <p:spPr>
          <a:xfrm>
            <a:off x="1097280" y="2240280"/>
            <a:ext cx="9966960" cy="2468880"/>
          </a:xfrm>
          <a:prstGeom prst="roundRect">
            <a:avLst/>
          </a:prstGeom>
          <a:solidFill>
            <a:srgbClr val="EAF3F8"/>
          </a:solidFill>
          <a:ln w="10000">
            <a:solidFill>
              <a:srgbClr val="C7D0DD"/>
            </a:solidFill>
          </a:ln>
        </p:spPr>
      </p:sp>
      <p:sp>
        <p:nvSpPr>
          <p:cNvPr id="227" name="Bullets"/>
          <p:cNvSpPr txBox="1"/>
          <p:nvPr/>
        </p:nvSpPr>
        <p:spPr>
          <a:xfrm>
            <a:off x="1508760" y="2606040"/>
            <a:ext cx="90525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完成四轴伺服连接、模式控制、实时采样、曲线显示和数据记录闭环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MIT 力反馈把光栅位置、速度估计、摩擦补偿和力矩分配串成 500Hz 控制回路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工程结构从大窗口代码拆分为界面层、控制层、采样/记录等清晰模块</a:t>
            </a:r>
          </a:p>
        </p:txBody>
      </p:sp>
      <p:sp>
        <p:nvSpPr>
          <p:cNvPr id="228" name="Text"/>
          <p:cNvSpPr txBox="1"/>
          <p:nvPr/>
        </p:nvSpPr>
        <p:spPr>
          <a:xfrm>
            <a:off x="1097280" y="548640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zh-CN" sz="1800" b="0">
                <a:solidFill>
                  <a:srgbClr val="607080"/>
                </a:solidFill>
                <a:latin typeface="Microsoft YaHei"/>
                <a:ea typeface="Microsoft YaHei"/>
              </a:rPr>
              <a:t>下一步重点：参数整定、服务化封装、实验数据分析能力。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tMotorConsole">
  <a:themeElements>
    <a:clrScheme name="Custom">
      <a:dk1>
        <a:srgbClr val="1F2937"/>
      </a:dk1>
      <a:lt1>
        <a:srgbClr val="FFFFFF"/>
      </a:lt1>
      <a:dk2>
        <a:srgbClr val="183153"/>
      </a:dk2>
      <a:lt2>
        <a:srgbClr val="F7F9FC"/>
      </a:lt2>
      <a:accent1>
        <a:srgbClr val="2474A6"/>
      </a:accent1>
      <a:accent2>
        <a:srgbClr val="2E8B57"/>
      </a:accent2>
      <a:accent3>
        <a:srgbClr val="C94F4F"/>
      </a:accent3>
      <a:accent4>
        <a:srgbClr val="8E44AD"/>
      </a:accent4>
      <a:accent5>
        <a:srgbClr val="D9822B"/>
      </a:accent5>
      <a:accent6>
        <a:srgbClr val="607080"/>
      </a:accent6>
      <a:hlink>
        <a:srgbClr val="2474A6"/>
      </a:hlink>
      <a:folHlink>
        <a:srgbClr val="8E44AD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QtMotorConsole 项目汇报</dc:title>
  <dc:creator>Codex</dc:creator>
  <cp:lastModifiedBy>Codex</cp:lastModifiedBy>
  <dcterms:created xsi:type="dcterms:W3CDTF">2026-06-02T16:41:26Z</dcterms:created>
  <dcterms:modified xsi:type="dcterms:W3CDTF">2026-06-02T16:41:26Z</dcterms:modified>
</cp:coreProperties>
</file>